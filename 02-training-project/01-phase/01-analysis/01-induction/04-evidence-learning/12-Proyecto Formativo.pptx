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erebri Bold" charset="1" panose="00000800000000000000"/>
      <p:regular r:id="rId16"/>
    </p:embeddedFont>
    <p:embeddedFont>
      <p:font typeface="Marta Italics" charset="1" panose="02000503060000020003"/>
      <p:regular r:id="rId17"/>
    </p:embeddedFont>
    <p:embeddedFont>
      <p:font typeface="Cerebri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6967" y="-462514"/>
            <a:ext cx="8236815" cy="10749514"/>
          </a:xfrm>
          <a:custGeom>
            <a:avLst/>
            <a:gdLst/>
            <a:ahLst/>
            <a:cxnLst/>
            <a:rect r="r" b="b" t="t" l="l"/>
            <a:pathLst>
              <a:path h="10749514" w="8236815">
                <a:moveTo>
                  <a:pt x="0" y="0"/>
                </a:moveTo>
                <a:lnTo>
                  <a:pt x="8236815" y="0"/>
                </a:lnTo>
                <a:lnTo>
                  <a:pt x="8236815" y="10749514"/>
                </a:lnTo>
                <a:lnTo>
                  <a:pt x="0" y="10749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619114" y="2573830"/>
            <a:ext cx="1329559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8000" spc="120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72239" y="6519204"/>
            <a:ext cx="10189348" cy="210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7"/>
              </a:lnSpc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Presentado por:</a:t>
            </a:r>
          </a:p>
          <a:p>
            <a:pPr algn="ctr" marL="0" indent="0" lvl="0">
              <a:lnSpc>
                <a:spcPts val="5637"/>
              </a:lnSpc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Juan Sebastián Medina Cardozo</a:t>
            </a:r>
          </a:p>
          <a:p>
            <a:pPr algn="ctr">
              <a:lnSpc>
                <a:spcPts val="5637"/>
              </a:lnSpc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Juan Pablo Chacón Barragán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61283" y="4314825"/>
            <a:ext cx="1261126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0"/>
              </a:lnSpc>
            </a:pPr>
            <a:r>
              <a:rPr lang="en-US" b="true" sz="5000" spc="75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FORMATIVO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0309" y="0"/>
            <a:ext cx="3897691" cy="7623846"/>
          </a:xfrm>
          <a:custGeom>
            <a:avLst/>
            <a:gdLst/>
            <a:ahLst/>
            <a:cxnLst/>
            <a:rect r="r" b="b" t="t" l="l"/>
            <a:pathLst>
              <a:path h="7623846" w="3897691">
                <a:moveTo>
                  <a:pt x="0" y="0"/>
                </a:moveTo>
                <a:lnTo>
                  <a:pt x="3897691" y="0"/>
                </a:lnTo>
                <a:lnTo>
                  <a:pt x="3897691" y="7623846"/>
                </a:lnTo>
                <a:lnTo>
                  <a:pt x="0" y="762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12611260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b="true" sz="7200" spc="108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ÍNDICE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35172"/>
            <a:ext cx="8631856" cy="6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427" indent="-434714" lvl="1">
              <a:lnSpc>
                <a:spcPts val="5637"/>
              </a:lnSpc>
              <a:buFont typeface="Arial"/>
              <a:buChar char="•"/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Información básica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46211"/>
            <a:ext cx="6596330" cy="6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427" indent="-434714" lvl="1">
              <a:lnSpc>
                <a:spcPts val="5637"/>
              </a:lnSpc>
              <a:buFont typeface="Arial"/>
              <a:buChar char="•"/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Estructura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357250"/>
            <a:ext cx="7187289" cy="6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427" indent="-434714" lvl="1">
              <a:lnSpc>
                <a:spcPts val="5637"/>
              </a:lnSpc>
              <a:buFont typeface="Arial"/>
              <a:buChar char="•"/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planeación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68289"/>
            <a:ext cx="6305630" cy="6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427" indent="-434714" lvl="1">
              <a:lnSpc>
                <a:spcPts val="5637"/>
              </a:lnSpc>
              <a:buFont typeface="Arial"/>
              <a:buChar char="•"/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Rubros presupuestales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4050" y="7780453"/>
            <a:ext cx="9960823" cy="6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427" indent="-434714" lvl="1">
              <a:lnSpc>
                <a:spcPts val="5637"/>
              </a:lnSpc>
              <a:buFont typeface="Arial"/>
              <a:buChar char="•"/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Equipo que participó en la formulación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084" y="514350"/>
            <a:ext cx="7094172" cy="9258300"/>
          </a:xfrm>
          <a:custGeom>
            <a:avLst/>
            <a:gdLst/>
            <a:ahLst/>
            <a:cxnLst/>
            <a:rect r="r" b="b" t="t" l="l"/>
            <a:pathLst>
              <a:path h="9258300" w="7094172">
                <a:moveTo>
                  <a:pt x="0" y="0"/>
                </a:moveTo>
                <a:lnTo>
                  <a:pt x="7094172" y="0"/>
                </a:lnTo>
                <a:lnTo>
                  <a:pt x="709417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65913" y="1715589"/>
            <a:ext cx="1019338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</a:pPr>
            <a:r>
              <a:rPr lang="en-US" b="true" sz="4500" spc="675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INFORMACION BASICA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9750" y="3190952"/>
            <a:ext cx="6788588" cy="494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 spc="30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Nombre del proyecto: Desarrollo de software Orientado a servicios</a:t>
            </a:r>
          </a:p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 spc="30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Centro: Centro de la Industria, la Empresa y los Servicios, Regional Huila </a:t>
            </a:r>
          </a:p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 spc="30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Programa: Análisis y Desarrollo de Software.</a:t>
            </a:r>
          </a:p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 spc="30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Duración: 27 Meses</a:t>
            </a:r>
          </a:p>
          <a:p>
            <a:pPr algn="just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 spc="30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Participantes: SENA y empresas del sector productivo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8084" y="514350"/>
            <a:ext cx="7094172" cy="9258300"/>
          </a:xfrm>
          <a:custGeom>
            <a:avLst/>
            <a:gdLst/>
            <a:ahLst/>
            <a:cxnLst/>
            <a:rect r="r" b="b" t="t" l="l"/>
            <a:pathLst>
              <a:path h="9258300" w="7094172">
                <a:moveTo>
                  <a:pt x="0" y="0"/>
                </a:moveTo>
                <a:lnTo>
                  <a:pt x="7094172" y="0"/>
                </a:lnTo>
                <a:lnTo>
                  <a:pt x="709417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29750" y="1028700"/>
            <a:ext cx="7829550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4"/>
              </a:lnSpc>
            </a:pPr>
            <a:r>
              <a:rPr lang="en-US" b="true" sz="5495" spc="824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2.ESTRUCTURA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50231" y="3327601"/>
            <a:ext cx="67885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2.1 Planteamiento del 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18907" y="7425690"/>
            <a:ext cx="6788588" cy="204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30"/>
              </a:lnSpc>
            </a:pPr>
            <a:r>
              <a:rPr lang="en-US" sz="2100" spc="21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El proyecto responde a los cambios tecnológicos y la rapidez del mercado. La información debe ser gestionada en tiempo real para ser competitivos. El software es cada vez más importante en la vida diaria y en las empresas, por lo que se requiere formar profesionales capaces de crear soluciones innovadoras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50231" y="4280535"/>
            <a:ext cx="6788588" cy="170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30"/>
              </a:lnSpc>
            </a:pPr>
            <a:r>
              <a:rPr lang="en-US" sz="2100" spc="21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Las empresas y personas usan modelos antiguos para administrar información, lo que las hace menos competitivas. Se necesita implementar soluciones informáticas modernas para gestionar la información y tomar mejores decisiones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18907" y="6473190"/>
            <a:ext cx="67885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2.2 Justificacion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1582" y="-942975"/>
            <a:ext cx="3152966" cy="4114800"/>
          </a:xfrm>
          <a:custGeom>
            <a:avLst/>
            <a:gdLst/>
            <a:ahLst/>
            <a:cxnLst/>
            <a:rect r="r" b="b" t="t" l="l"/>
            <a:pathLst>
              <a:path h="4114800" w="3152966">
                <a:moveTo>
                  <a:pt x="0" y="0"/>
                </a:moveTo>
                <a:lnTo>
                  <a:pt x="3152965" y="0"/>
                </a:lnTo>
                <a:lnTo>
                  <a:pt x="3152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3925"/>
            <a:ext cx="16230600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b="true" sz="7200" spc="108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OBJETIVOS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7376" y="4652663"/>
            <a:ext cx="6752189" cy="2856726"/>
            <a:chOff x="0" y="0"/>
            <a:chExt cx="9002919" cy="380896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573768"/>
              <a:ext cx="9002919" cy="223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799" spc="27">
                  <a:solidFill>
                    <a:srgbClr val="19374D"/>
                  </a:solidFill>
                  <a:latin typeface="Cerebri"/>
                  <a:ea typeface="Cerebri"/>
                  <a:cs typeface="Cerebri"/>
                  <a:sym typeface="Cerebri"/>
                </a:rPr>
                <a:t>Desarrollar software que solucione necesidades de gestión de información en empresas usando diferentes tecnologías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9002919" cy="901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37"/>
                </a:lnSpc>
              </a:pPr>
              <a:r>
                <a:rPr lang="en-US" sz="4026" i="true">
                  <a:solidFill>
                    <a:srgbClr val="19374D"/>
                  </a:solidFill>
                  <a:latin typeface="Marta Italics"/>
                  <a:ea typeface="Marta Italics"/>
                  <a:cs typeface="Marta Italics"/>
                  <a:sym typeface="Marta Italics"/>
                </a:rPr>
                <a:t>2.3 Objetivo general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07111" y="5673298"/>
            <a:ext cx="6752189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7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- Diagnosticar necesidades tecnológicas.</a:t>
            </a:r>
          </a:p>
          <a:p>
            <a:pPr algn="ctr">
              <a:lnSpc>
                <a:spcPts val="3359"/>
              </a:lnSpc>
            </a:pPr>
            <a:r>
              <a:rPr lang="en-US" sz="2799" spc="27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- Diseñar prototipos y arquitecturas.</a:t>
            </a:r>
          </a:p>
          <a:p>
            <a:pPr algn="ctr">
              <a:lnSpc>
                <a:spcPts val="3359"/>
              </a:lnSpc>
            </a:pPr>
            <a:r>
              <a:rPr lang="en-US" sz="2799" spc="27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- Construir componentes del software.</a:t>
            </a:r>
          </a:p>
          <a:p>
            <a:pPr algn="ctr">
              <a:lnSpc>
                <a:spcPts val="3359"/>
              </a:lnSpc>
            </a:pPr>
            <a:r>
              <a:rPr lang="en-US" sz="2799" spc="27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- Probar los componentes.</a:t>
            </a:r>
          </a:p>
          <a:p>
            <a:pPr algn="ctr" marL="0" indent="0" lvl="0">
              <a:lnSpc>
                <a:spcPts val="3359"/>
              </a:lnSpc>
            </a:pPr>
            <a:r>
              <a:rPr lang="en-US" sz="2799" spc="27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- Implantar el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7111" y="4538571"/>
            <a:ext cx="6752189" cy="697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7"/>
              </a:lnSpc>
            </a:pPr>
            <a:r>
              <a:rPr lang="en-US" sz="4026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2.4 Objetivo específico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8845763" y="4048633"/>
            <a:ext cx="0" cy="4542917"/>
          </a:xfrm>
          <a:prstGeom prst="line">
            <a:avLst/>
          </a:prstGeom>
          <a:ln cap="flat" w="38100">
            <a:solidFill>
              <a:srgbClr val="19374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41532" y="1644256"/>
            <a:ext cx="2533329" cy="4959209"/>
          </a:xfrm>
          <a:custGeom>
            <a:avLst/>
            <a:gdLst/>
            <a:ahLst/>
            <a:cxnLst/>
            <a:rect r="r" b="b" t="t" l="l"/>
            <a:pathLst>
              <a:path h="4959209" w="2533329">
                <a:moveTo>
                  <a:pt x="0" y="0"/>
                </a:moveTo>
                <a:lnTo>
                  <a:pt x="2533329" y="0"/>
                </a:lnTo>
                <a:lnTo>
                  <a:pt x="2533329" y="4959210"/>
                </a:lnTo>
                <a:lnTo>
                  <a:pt x="0" y="4959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77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</a:pPr>
            <a:r>
              <a:rPr lang="en-US" b="true" sz="7200" spc="108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ALCANCES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71793" y="3321685"/>
            <a:ext cx="9944413" cy="234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 Beneficiarios: Empresas, SENA, aprendices.</a:t>
            </a:r>
          </a:p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Impacto social: Formación de aprendices con calidad, mejora en empleabilidad.</a:t>
            </a:r>
          </a:p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Impacto económico:Generación de ingresos y talento humano.</a:t>
            </a:r>
          </a:p>
          <a:p>
            <a:pPr algn="ctr">
              <a:lnSpc>
                <a:spcPts val="3119"/>
              </a:lnSpc>
            </a:pPr>
            <a:r>
              <a:rPr lang="en-US" sz="2399" spc="23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Impacto ambiental:Menos uso de papel, eficiencia energética.</a:t>
            </a:r>
          </a:p>
          <a:p>
            <a:pPr algn="ctr" marL="0" indent="0" lvl="0">
              <a:lnSpc>
                <a:spcPts val="3119"/>
              </a:lnSpc>
            </a:pPr>
            <a:r>
              <a:rPr lang="en-US" sz="2399" spc="23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Impacto tecnológico: Integración de tecnologías, innovación.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73648" y="6809566"/>
            <a:ext cx="628565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2.</a:t>
            </a:r>
            <a:r>
              <a:rPr lang="en-US" sz="3200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7 Valoración Productiva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3381" y="7913370"/>
            <a:ext cx="6285652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</a:pPr>
            <a:r>
              <a:rPr lang="en-US" sz="2299" spc="22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El proyecto es viable para satisfacer clientes y para un plan de negocio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809566"/>
            <a:ext cx="672339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2.</a:t>
            </a:r>
            <a:r>
              <a:rPr lang="en-US" sz="3200" i="true">
                <a:solidFill>
                  <a:srgbClr val="19374D"/>
                </a:solidFill>
                <a:latin typeface="Marta Italics"/>
                <a:ea typeface="Marta Italics"/>
                <a:cs typeface="Marta Italics"/>
                <a:sym typeface="Marta Italics"/>
              </a:rPr>
              <a:t>6 innovación/Gestión Tecnológica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541895"/>
            <a:ext cx="6285652" cy="148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</a:pPr>
            <a:r>
              <a:rPr lang="en-US" sz="2299" spc="22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El proyecto resuelve necesidades reales, mejora procesos, usa nuevas técnicas y tecnologías, y los productos pueden ser protegidos y posicionados en el mercado[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-5400000">
            <a:off x="16100672" y="1644256"/>
            <a:ext cx="2533329" cy="4959209"/>
          </a:xfrm>
          <a:custGeom>
            <a:avLst/>
            <a:gdLst/>
            <a:ahLst/>
            <a:cxnLst/>
            <a:rect r="r" b="b" t="t" l="l"/>
            <a:pathLst>
              <a:path h="4959209" w="2533329">
                <a:moveTo>
                  <a:pt x="0" y="4959210"/>
                </a:moveTo>
                <a:lnTo>
                  <a:pt x="2533329" y="4959210"/>
                </a:lnTo>
                <a:lnTo>
                  <a:pt x="2533329" y="0"/>
                </a:lnTo>
                <a:lnTo>
                  <a:pt x="0" y="0"/>
                </a:lnTo>
                <a:lnTo>
                  <a:pt x="0" y="49592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5570" y="2332255"/>
            <a:ext cx="7178268" cy="7155655"/>
          </a:xfrm>
          <a:custGeom>
            <a:avLst/>
            <a:gdLst/>
            <a:ahLst/>
            <a:cxnLst/>
            <a:rect r="r" b="b" t="t" l="l"/>
            <a:pathLst>
              <a:path h="7155655" w="7178268">
                <a:moveTo>
                  <a:pt x="0" y="0"/>
                </a:moveTo>
                <a:lnTo>
                  <a:pt x="7178268" y="0"/>
                </a:lnTo>
                <a:lnTo>
                  <a:pt x="7178268" y="7155654"/>
                </a:lnTo>
                <a:lnTo>
                  <a:pt x="0" y="7155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8" r="0" b="-1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28777"/>
            <a:ext cx="162306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b="true" sz="6200" spc="93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3.PLANEACION DEL PROYECTO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386496"/>
            <a:ext cx="16497203" cy="2081865"/>
          </a:xfrm>
          <a:custGeom>
            <a:avLst/>
            <a:gdLst/>
            <a:ahLst/>
            <a:cxnLst/>
            <a:rect r="r" b="b" t="t" l="l"/>
            <a:pathLst>
              <a:path h="2081865" w="16497203">
                <a:moveTo>
                  <a:pt x="0" y="0"/>
                </a:moveTo>
                <a:lnTo>
                  <a:pt x="16497203" y="0"/>
                </a:lnTo>
                <a:lnTo>
                  <a:pt x="16497203" y="2081865"/>
                </a:lnTo>
                <a:lnTo>
                  <a:pt x="0" y="208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83162" y="1028700"/>
            <a:ext cx="1706379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4"/>
              </a:lnSpc>
            </a:pPr>
            <a:r>
              <a:rPr lang="en-US" b="true" sz="5228" spc="784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4.RUBROS PRESUPUESTALES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E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0458" y="0"/>
            <a:ext cx="5426713" cy="10614598"/>
          </a:xfrm>
          <a:custGeom>
            <a:avLst/>
            <a:gdLst/>
            <a:ahLst/>
            <a:cxnLst/>
            <a:rect r="r" b="b" t="t" l="l"/>
            <a:pathLst>
              <a:path h="10614598" w="5426713">
                <a:moveTo>
                  <a:pt x="0" y="0"/>
                </a:moveTo>
                <a:lnTo>
                  <a:pt x="5426713" y="0"/>
                </a:lnTo>
                <a:lnTo>
                  <a:pt x="5426713" y="10614598"/>
                </a:lnTo>
                <a:lnTo>
                  <a:pt x="0" y="1061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87777" y="5420761"/>
            <a:ext cx="14719344" cy="2952345"/>
          </a:xfrm>
          <a:custGeom>
            <a:avLst/>
            <a:gdLst/>
            <a:ahLst/>
            <a:cxnLst/>
            <a:rect r="r" b="b" t="t" l="l"/>
            <a:pathLst>
              <a:path h="2952345" w="14719344">
                <a:moveTo>
                  <a:pt x="0" y="0"/>
                </a:moveTo>
                <a:lnTo>
                  <a:pt x="14719345" y="0"/>
                </a:lnTo>
                <a:lnTo>
                  <a:pt x="14719345" y="2952345"/>
                </a:lnTo>
                <a:lnTo>
                  <a:pt x="0" y="2952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887777" y="1295246"/>
            <a:ext cx="14965250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000" spc="900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5.EQUIPO QUE PARTICIPO EN LA FORMULACION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50458" y="4107123"/>
            <a:ext cx="5688016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799" spc="27">
                <a:solidFill>
                  <a:srgbClr val="19374D"/>
                </a:solidFill>
                <a:latin typeface="Cerebri"/>
                <a:ea typeface="Cerebri"/>
                <a:cs typeface="Cerebri"/>
                <a:sym typeface="Cerebri"/>
              </a:rPr>
              <a:t>Se listan los nombres y especialidades en la formulación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61375" y="3502543"/>
            <a:ext cx="14965250" cy="270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8000" spc="264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MUCHAS GRACIAS </a:t>
            </a:r>
          </a:p>
          <a:p>
            <a:pPr algn="ctr">
              <a:lnSpc>
                <a:spcPts val="10800"/>
              </a:lnSpc>
            </a:pPr>
            <a:r>
              <a:rPr lang="en-US" b="true" sz="8000" spc="264">
                <a:solidFill>
                  <a:srgbClr val="19374D"/>
                </a:solidFill>
                <a:latin typeface="Cerebri Bold"/>
                <a:ea typeface="Cerebri Bold"/>
                <a:cs typeface="Cerebri Bold"/>
                <a:sym typeface="Cerebri Bold"/>
              </a:rPr>
              <a:t>POR SU ATENCION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075018">
            <a:off x="-2476854" y="-462514"/>
            <a:ext cx="8236815" cy="10749514"/>
          </a:xfrm>
          <a:custGeom>
            <a:avLst/>
            <a:gdLst/>
            <a:ahLst/>
            <a:cxnLst/>
            <a:rect r="r" b="b" t="t" l="l"/>
            <a:pathLst>
              <a:path h="10749514" w="8236815">
                <a:moveTo>
                  <a:pt x="0" y="0"/>
                </a:moveTo>
                <a:lnTo>
                  <a:pt x="8236815" y="0"/>
                </a:lnTo>
                <a:lnTo>
                  <a:pt x="8236815" y="10749514"/>
                </a:lnTo>
                <a:lnTo>
                  <a:pt x="0" y="1074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329264">
            <a:off x="12726850" y="488250"/>
            <a:ext cx="8236815" cy="10749514"/>
          </a:xfrm>
          <a:custGeom>
            <a:avLst/>
            <a:gdLst/>
            <a:ahLst/>
            <a:cxnLst/>
            <a:rect r="r" b="b" t="t" l="l"/>
            <a:pathLst>
              <a:path h="10749514" w="8236815">
                <a:moveTo>
                  <a:pt x="0" y="0"/>
                </a:moveTo>
                <a:lnTo>
                  <a:pt x="8236815" y="0"/>
                </a:lnTo>
                <a:lnTo>
                  <a:pt x="8236815" y="10749514"/>
                </a:lnTo>
                <a:lnTo>
                  <a:pt x="0" y="107495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DAHBcPIWBJo</dc:identifier>
  <dcterms:modified xsi:type="dcterms:W3CDTF">2011-08-01T06:04:30Z</dcterms:modified>
  <cp:revision>1</cp:revision>
  <dc:title>Presentacion Proyecto Negocios Formal Azul</dc:title>
</cp:coreProperties>
</file>